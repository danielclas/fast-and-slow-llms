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387D7B-9F18-4F6D-906C-CC1BC08402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FD89D6-7164-46F9-B894-B988ADC10F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BE796E-E434-408F-A1DB-73CAED6AAD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775CBC-6959-4DFE-8E49-9C09940103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B595A1-7468-4ABC-95A3-CB7102E164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D93C2A-E1B2-46AC-B9CD-F942A73FE4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E2B56A-4E48-469C-90FB-555F0E23D2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7AF46F-91B6-4C00-824C-C895305122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F8D3FE-B693-470B-80F3-8990BB10DB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856AAA-5AC1-4010-B1A8-F86136B350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33DE00-8CA0-4368-9A53-79E769D0B0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FC4ADC-9D1B-4A34-8EDA-BCBB5534F6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046BB9-B24F-4602-90B8-C4C84DA891D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2"/>
          <p:cNvGrpSpPr/>
          <p:nvPr/>
        </p:nvGrpSpPr>
        <p:grpSpPr>
          <a:xfrm>
            <a:off x="-5028120" y="1539000"/>
            <a:ext cx="7718760" cy="7718760"/>
            <a:chOff x="-5028120" y="1539000"/>
            <a:chExt cx="7718760" cy="7718760"/>
          </a:xfrm>
        </p:grpSpPr>
        <p:sp>
          <p:nvSpPr>
            <p:cNvPr id="42" name="Freeform 3"/>
            <p:cNvSpPr/>
            <p:nvPr/>
          </p:nvSpPr>
          <p:spPr>
            <a:xfrm>
              <a:off x="-5028120" y="1539000"/>
              <a:ext cx="7718760" cy="771876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" name="TextBox 4"/>
            <p:cNvSpPr/>
            <p:nvPr/>
          </p:nvSpPr>
          <p:spPr>
            <a:xfrm>
              <a:off x="-4304520" y="1901160"/>
              <a:ext cx="6271560" cy="66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" name="Group 5"/>
          <p:cNvGrpSpPr/>
          <p:nvPr/>
        </p:nvGrpSpPr>
        <p:grpSpPr>
          <a:xfrm>
            <a:off x="15597000" y="1539000"/>
            <a:ext cx="7718760" cy="7718760"/>
            <a:chOff x="15597000" y="1539000"/>
            <a:chExt cx="7718760" cy="7718760"/>
          </a:xfrm>
        </p:grpSpPr>
        <p:sp>
          <p:nvSpPr>
            <p:cNvPr id="45" name="Freeform 6"/>
            <p:cNvSpPr/>
            <p:nvPr/>
          </p:nvSpPr>
          <p:spPr>
            <a:xfrm>
              <a:off x="15597000" y="1539000"/>
              <a:ext cx="7718760" cy="771876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" name="TextBox 7"/>
            <p:cNvSpPr/>
            <p:nvPr/>
          </p:nvSpPr>
          <p:spPr>
            <a:xfrm>
              <a:off x="16320600" y="1901160"/>
              <a:ext cx="6271560" cy="66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7" name="Freeform 8"/>
          <p:cNvSpPr/>
          <p:nvPr/>
        </p:nvSpPr>
        <p:spPr>
          <a:xfrm>
            <a:off x="736560" y="6009120"/>
            <a:ext cx="2468880" cy="4408920"/>
          </a:xfrm>
          <a:custGeom>
            <a:avLst/>
            <a:gdLst/>
            <a:ahLst/>
            <a:rect l="l" t="t" r="r" b="b"/>
            <a:pathLst>
              <a:path w="2469284" h="4409435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Freeform 9"/>
          <p:cNvSpPr/>
          <p:nvPr/>
        </p:nvSpPr>
        <p:spPr>
          <a:xfrm flipH="1">
            <a:off x="15082200" y="6009120"/>
            <a:ext cx="2468880" cy="4408920"/>
          </a:xfrm>
          <a:custGeom>
            <a:avLst/>
            <a:gdLst/>
            <a:ahLst/>
            <a:rect l="l" t="t" r="r" b="b"/>
            <a:pathLst>
              <a:path w="2469284" h="4409435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9" name="Group 10"/>
          <p:cNvGrpSpPr/>
          <p:nvPr/>
        </p:nvGrpSpPr>
        <p:grpSpPr>
          <a:xfrm>
            <a:off x="1030320" y="1013400"/>
            <a:ext cx="859680" cy="333360"/>
            <a:chOff x="1030320" y="1013400"/>
            <a:chExt cx="859680" cy="333360"/>
          </a:xfrm>
        </p:grpSpPr>
        <p:grpSp>
          <p:nvGrpSpPr>
            <p:cNvPr id="50" name="Group 11"/>
            <p:cNvGrpSpPr/>
            <p:nvPr/>
          </p:nvGrpSpPr>
          <p:grpSpPr>
            <a:xfrm>
              <a:off x="1030320" y="1013400"/>
              <a:ext cx="333360" cy="333360"/>
              <a:chOff x="1030320" y="1013400"/>
              <a:chExt cx="333360" cy="333360"/>
            </a:xfrm>
          </p:grpSpPr>
          <p:sp>
            <p:nvSpPr>
              <p:cNvPr id="51" name="Freeform 12"/>
              <p:cNvSpPr/>
              <p:nvPr/>
            </p:nvSpPr>
            <p:spPr>
              <a:xfrm>
                <a:off x="1030320" y="1013400"/>
                <a:ext cx="333360" cy="333360"/>
              </a:xfrm>
              <a:custGeom>
                <a:avLst/>
                <a:gdLst/>
                <a:ah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" name="TextBox 13"/>
              <p:cNvSpPr/>
              <p:nvPr/>
            </p:nvSpPr>
            <p:spPr>
              <a:xfrm>
                <a:off x="1061640" y="1028880"/>
                <a:ext cx="270720" cy="286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3" name="Group 14"/>
            <p:cNvGrpSpPr/>
            <p:nvPr/>
          </p:nvGrpSpPr>
          <p:grpSpPr>
            <a:xfrm>
              <a:off x="1556640" y="1013400"/>
              <a:ext cx="333360" cy="333360"/>
              <a:chOff x="1556640" y="1013400"/>
              <a:chExt cx="333360" cy="333360"/>
            </a:xfrm>
          </p:grpSpPr>
          <p:sp>
            <p:nvSpPr>
              <p:cNvPr id="54" name="Freeform 15"/>
              <p:cNvSpPr/>
              <p:nvPr/>
            </p:nvSpPr>
            <p:spPr>
              <a:xfrm>
                <a:off x="1556640" y="1013400"/>
                <a:ext cx="333360" cy="333360"/>
              </a:xfrm>
              <a:custGeom>
                <a:avLst/>
                <a:gdLst/>
                <a:ah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" name="TextBox 16"/>
              <p:cNvSpPr/>
              <p:nvPr/>
            </p:nvSpPr>
            <p:spPr>
              <a:xfrm>
                <a:off x="1587960" y="1028880"/>
                <a:ext cx="270720" cy="286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6" name="Group 17"/>
          <p:cNvGrpSpPr/>
          <p:nvPr/>
        </p:nvGrpSpPr>
        <p:grpSpPr>
          <a:xfrm>
            <a:off x="16397640" y="1028880"/>
            <a:ext cx="860040" cy="333360"/>
            <a:chOff x="16397640" y="1028880"/>
            <a:chExt cx="860040" cy="333360"/>
          </a:xfrm>
        </p:grpSpPr>
        <p:grpSp>
          <p:nvGrpSpPr>
            <p:cNvPr id="57" name="Group 18"/>
            <p:cNvGrpSpPr/>
            <p:nvPr/>
          </p:nvGrpSpPr>
          <p:grpSpPr>
            <a:xfrm>
              <a:off x="16397640" y="1028880"/>
              <a:ext cx="333360" cy="333360"/>
              <a:chOff x="16397640" y="1028880"/>
              <a:chExt cx="333360" cy="333360"/>
            </a:xfrm>
          </p:grpSpPr>
          <p:sp>
            <p:nvSpPr>
              <p:cNvPr id="58" name="Freeform 19"/>
              <p:cNvSpPr/>
              <p:nvPr/>
            </p:nvSpPr>
            <p:spPr>
              <a:xfrm>
                <a:off x="16397640" y="1028880"/>
                <a:ext cx="333360" cy="333360"/>
              </a:xfrm>
              <a:custGeom>
                <a:avLst/>
                <a:gdLst/>
                <a:ah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" name="TextBox 20"/>
              <p:cNvSpPr/>
              <p:nvPr/>
            </p:nvSpPr>
            <p:spPr>
              <a:xfrm>
                <a:off x="16428960" y="1044360"/>
                <a:ext cx="270720" cy="286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0" name="Group 21"/>
            <p:cNvGrpSpPr/>
            <p:nvPr/>
          </p:nvGrpSpPr>
          <p:grpSpPr>
            <a:xfrm>
              <a:off x="16924320" y="1028880"/>
              <a:ext cx="333360" cy="333360"/>
              <a:chOff x="16924320" y="1028880"/>
              <a:chExt cx="333360" cy="333360"/>
            </a:xfrm>
          </p:grpSpPr>
          <p:sp>
            <p:nvSpPr>
              <p:cNvPr id="61" name="Freeform 22"/>
              <p:cNvSpPr/>
              <p:nvPr/>
            </p:nvSpPr>
            <p:spPr>
              <a:xfrm>
                <a:off x="16924320" y="1028880"/>
                <a:ext cx="333360" cy="333360"/>
              </a:xfrm>
              <a:custGeom>
                <a:avLst/>
                <a:gdLst/>
                <a:ah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2" name="TextBox 23"/>
              <p:cNvSpPr/>
              <p:nvPr/>
            </p:nvSpPr>
            <p:spPr>
              <a:xfrm>
                <a:off x="16955640" y="1044360"/>
                <a:ext cx="270720" cy="286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63" name="TextBox 24"/>
          <p:cNvSpPr/>
          <p:nvPr/>
        </p:nvSpPr>
        <p:spPr>
          <a:xfrm>
            <a:off x="2842560" y="1539000"/>
            <a:ext cx="12754080" cy="31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12263"/>
              </a:lnSpc>
              <a:buNone/>
            </a:pPr>
            <a:r>
              <a:rPr b="1" lang="en-US" sz="8760" spc="-1" strike="noStrike">
                <a:solidFill>
                  <a:srgbClr val="000000"/>
                </a:solidFill>
                <a:latin typeface="Red Hat Display Bold"/>
                <a:ea typeface="Red Hat Display Bold"/>
              </a:rPr>
              <a:t>FAST AND SLOW LLMS</a:t>
            </a:r>
            <a:endParaRPr b="0" lang="en-US" sz="8760" spc="-1" strike="noStrike">
              <a:latin typeface="Arial"/>
            </a:endParaRPr>
          </a:p>
        </p:txBody>
      </p:sp>
      <p:sp>
        <p:nvSpPr>
          <p:cNvPr id="64" name="TextBox 25"/>
          <p:cNvSpPr/>
          <p:nvPr/>
        </p:nvSpPr>
        <p:spPr>
          <a:xfrm>
            <a:off x="3880800" y="4692240"/>
            <a:ext cx="10677600" cy="8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498"/>
              </a:lnSpc>
              <a:buNone/>
            </a:pPr>
            <a:r>
              <a:rPr b="1" lang="en-US" sz="2500" spc="746" strike="noStrike">
                <a:solidFill>
                  <a:srgbClr val="000000"/>
                </a:solidFill>
                <a:latin typeface="Red Hat Display Bold"/>
                <a:ea typeface="Red Hat Display Bold"/>
              </a:rPr>
              <a:t>A Solution to the Email-to-API Mapping Problem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5" name="TextBox 26"/>
          <p:cNvSpPr/>
          <p:nvPr/>
        </p:nvSpPr>
        <p:spPr>
          <a:xfrm>
            <a:off x="4726800" y="6504480"/>
            <a:ext cx="88344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798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Inter"/>
                <a:ea typeface="Inter"/>
              </a:rPr>
              <a:t>Daniel Clas, Aida Rostami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2"/>
          <p:cNvGrpSpPr/>
          <p:nvPr/>
        </p:nvGrpSpPr>
        <p:grpSpPr>
          <a:xfrm>
            <a:off x="619560" y="2566800"/>
            <a:ext cx="10712160" cy="6670800"/>
            <a:chOff x="619560" y="2566800"/>
            <a:chExt cx="10712160" cy="6670800"/>
          </a:xfrm>
        </p:grpSpPr>
        <p:sp>
          <p:nvSpPr>
            <p:cNvPr id="67" name="Freeform 3"/>
            <p:cNvSpPr/>
            <p:nvPr/>
          </p:nvSpPr>
          <p:spPr>
            <a:xfrm>
              <a:off x="619560" y="2566800"/>
              <a:ext cx="10712160" cy="6670800"/>
            </a:xfrm>
            <a:custGeom>
              <a:avLst/>
              <a:gdLst/>
              <a:ahLst/>
              <a:rect l="l" t="t" r="r" b="b"/>
              <a:pathLst>
                <a:path w="915651" h="570214">
                  <a:moveTo>
                    <a:pt x="16622" y="0"/>
                  </a:moveTo>
                  <a:lnTo>
                    <a:pt x="899029" y="0"/>
                  </a:lnTo>
                  <a:cubicBezTo>
                    <a:pt x="903437" y="0"/>
                    <a:pt x="907665" y="1751"/>
                    <a:pt x="910782" y="4869"/>
                  </a:cubicBezTo>
                  <a:cubicBezTo>
                    <a:pt x="913900" y="7986"/>
                    <a:pt x="915651" y="12214"/>
                    <a:pt x="915651" y="16622"/>
                  </a:cubicBezTo>
                  <a:lnTo>
                    <a:pt x="915651" y="553592"/>
                  </a:lnTo>
                  <a:cubicBezTo>
                    <a:pt x="915651" y="558000"/>
                    <a:pt x="913900" y="562228"/>
                    <a:pt x="910782" y="565345"/>
                  </a:cubicBezTo>
                  <a:cubicBezTo>
                    <a:pt x="907665" y="568463"/>
                    <a:pt x="903437" y="570214"/>
                    <a:pt x="899029" y="570214"/>
                  </a:cubicBezTo>
                  <a:lnTo>
                    <a:pt x="16622" y="570214"/>
                  </a:lnTo>
                  <a:cubicBezTo>
                    <a:pt x="12214" y="570214"/>
                    <a:pt x="7986" y="568463"/>
                    <a:pt x="4869" y="565345"/>
                  </a:cubicBezTo>
                  <a:cubicBezTo>
                    <a:pt x="1751" y="562228"/>
                    <a:pt x="0" y="558000"/>
                    <a:pt x="0" y="553592"/>
                  </a:cubicBezTo>
                  <a:lnTo>
                    <a:pt x="0" y="16622"/>
                  </a:lnTo>
                  <a:cubicBezTo>
                    <a:pt x="0" y="12214"/>
                    <a:pt x="1751" y="7986"/>
                    <a:pt x="4869" y="4869"/>
                  </a:cubicBezTo>
                  <a:cubicBezTo>
                    <a:pt x="7986" y="1751"/>
                    <a:pt x="12214" y="0"/>
                    <a:pt x="16622" y="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8" name="TextBox 4"/>
          <p:cNvSpPr/>
          <p:nvPr/>
        </p:nvSpPr>
        <p:spPr>
          <a:xfrm>
            <a:off x="1028880" y="535680"/>
            <a:ext cx="10145160" cy="19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699"/>
              </a:lnSpc>
              <a:buNone/>
            </a:pPr>
            <a:r>
              <a:rPr b="1" lang="en-US" sz="5500" spc="-1" strike="noStrike">
                <a:solidFill>
                  <a:srgbClr val="000000"/>
                </a:solidFill>
                <a:latin typeface="Red Hat Display Bold"/>
                <a:ea typeface="Red Hat Display Bold"/>
              </a:rPr>
              <a:t>The Email Answering Problem</a:t>
            </a:r>
            <a:endParaRPr b="0" lang="en-US" sz="5500" spc="-1" strike="noStrike"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11332080" y="4546800"/>
            <a:ext cx="6564240" cy="13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2721"/>
              </a:lnSpc>
              <a:buNone/>
            </a:pPr>
            <a:r>
              <a:rPr b="0" lang="en-US" sz="1940" spc="-1" strike="noStrike">
                <a:solidFill>
                  <a:srgbClr val="000000"/>
                </a:solidFill>
                <a:latin typeface="Inter"/>
                <a:ea typeface="Inter"/>
              </a:rPr>
              <a:t>The company’s human resources team is already burdened with a high volume of daily tasks, yet they are still required to handle and respond to such emails regularly.</a:t>
            </a:r>
            <a:endParaRPr b="0" lang="en-US" sz="1940" spc="-1" strike="noStrike"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6101280" y="6734160"/>
            <a:ext cx="75852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94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Inter Medium"/>
                <a:ea typeface="Inter Medium"/>
              </a:rPr>
              <a:t>01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9608040" y="8304840"/>
            <a:ext cx="75852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94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Inter Medium"/>
                <a:ea typeface="Inter Medium"/>
              </a:rPr>
              <a:t>02</a:t>
            </a:r>
            <a:endParaRPr b="0" lang="en-US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 2"/>
          <p:cNvSpPr/>
          <p:nvPr/>
        </p:nvSpPr>
        <p:spPr>
          <a:xfrm flipH="1">
            <a:off x="11658600" y="1685520"/>
            <a:ext cx="5051520" cy="6772680"/>
          </a:xfrm>
          <a:custGeom>
            <a:avLst/>
            <a:gdLst/>
            <a:ahLst/>
            <a:rect l="l" t="t" r="r" b="b"/>
            <a:pathLst>
              <a:path w="4988241" h="6916106">
                <a:moveTo>
                  <a:pt x="4988242" y="0"/>
                </a:moveTo>
                <a:lnTo>
                  <a:pt x="0" y="0"/>
                </a:lnTo>
                <a:lnTo>
                  <a:pt x="0" y="6916106"/>
                </a:lnTo>
                <a:lnTo>
                  <a:pt x="4988242" y="6916106"/>
                </a:lnTo>
                <a:lnTo>
                  <a:pt x="4988242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Box 3"/>
          <p:cNvSpPr/>
          <p:nvPr/>
        </p:nvSpPr>
        <p:spPr>
          <a:xfrm>
            <a:off x="600480" y="502920"/>
            <a:ext cx="10906920" cy="18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421"/>
              </a:lnSpc>
              <a:buNone/>
            </a:pPr>
            <a:r>
              <a:rPr b="1" lang="en-US" sz="5300" spc="-1" strike="noStrike">
                <a:solidFill>
                  <a:srgbClr val="000000"/>
                </a:solidFill>
                <a:latin typeface="Red Hat Display Bold"/>
                <a:ea typeface="Red Hat Display Bold"/>
              </a:rPr>
              <a:t>What if email handling could be automated?</a:t>
            </a:r>
            <a:endParaRPr b="0" lang="en-US" sz="5300" spc="-1" strike="noStrike"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028880" y="3324960"/>
            <a:ext cx="10050840" cy="18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3682"/>
              </a:lnSpc>
              <a:buNone/>
            </a:pPr>
            <a:r>
              <a:rPr b="0" lang="en-US" sz="2630" spc="-1" strike="noStrike">
                <a:solidFill>
                  <a:srgbClr val="000000"/>
                </a:solidFill>
                <a:latin typeface="Inter"/>
                <a:ea typeface="Inter"/>
              </a:rPr>
              <a:t>We designed an intelligent system that uses large language models to read incoming emails, understand their intent, and decide on the right action, all while mimicking human-like fast and slow thinking.</a:t>
            </a:r>
            <a:endParaRPr b="0" lang="en-US" sz="26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DAGxnbTmGOg</dc:identifier>
  <dc:language>en-US</dc:language>
  <cp:lastModifiedBy/>
  <dcterms:modified xsi:type="dcterms:W3CDTF">2025-08-31T08:54:07Z</dcterms:modified>
  <cp:revision>2</cp:revision>
  <dc:subject/>
  <dc:title>Fast and slow LLMs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